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A3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59"/>
    <p:restoredTop sz="94422"/>
  </p:normalViewPr>
  <p:slideViewPr>
    <p:cSldViewPr snapToGrid="0">
      <p:cViewPr varScale="1">
        <p:scale>
          <a:sx n="116" d="100"/>
          <a:sy n="116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9202-655D-E2B4-D349-95239333D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D36DF-A09D-8ADE-1C66-13A24187A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48753-8D1A-7D43-D971-9016BF82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921F3-AAF6-E6E4-DBBE-CD20F64A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85B6B-E1C1-1506-4F1A-F965285A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0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7D09-D65A-0A6B-FDAD-B2A8D7147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51183-835B-40D4-5855-E6AAB184D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8B8C7-0C0C-988B-3A6F-4B2C94A4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871A4-3854-B851-E5ED-F167C03DB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019A0-263E-2917-6D02-C8B2FC70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7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1515-0B2B-8490-F13F-A9FE829B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134B9-B566-3856-9BC8-2A3F66F6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D5F47-81C8-D1D1-6B9E-B56496D2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01908-4BC9-3D9F-1E5F-A7A91A39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4B8E-95B2-EE28-7E96-7864F6F9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7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81A8E-5412-394F-DB51-52C10E2D1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8F47-6CCF-31EB-1074-DD462D7A3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C506B-F6BA-3B69-7C49-F54543CB0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E91DF-B7B8-9BEE-4CE1-7F0516E0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8426A-3325-2826-9F03-74AC7E80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AA289-2A54-51E7-D73F-5D2EDC30F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9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7C88-E24D-7BC2-15D8-B9836541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42D81-7976-E22A-AEB2-8D25B54C3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E956F-FE9D-482D-E604-8ABED464E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8CF9E1-69A7-9334-69AA-9BA0A111C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8F47C-76ED-3D6C-4BAA-37DAD1A8B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3C487D-CDA7-1D84-0141-EA9E9998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1EC1C-E3E4-2341-B188-720620DE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E4700-70AE-CEF7-A9AF-C135BC0DF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8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7E7F-59BC-7610-9330-F954A9AA5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E2CE40-A6DD-9683-6953-7155382D2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9674A-E9BC-8CBB-C43F-15CC13DA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B3749-8ED0-A0F2-F347-C41C7FAD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3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23869-B3BB-F707-EACB-AC181FBB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A58657-74D1-0C8C-C810-03B55C470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8A8E2-B0C4-985E-CD31-D3B684C2D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16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0804-B81E-00CE-F447-641F3F36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D58BF-4E4D-8A29-8BD8-220C51F90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0F28C-9984-D7EB-DC7A-E7EB562DC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47D94-AFB7-E3AF-839A-9D97B7A84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47B97-9681-39CA-7D92-44CEABF4D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0452F-E0B3-6B35-960E-AA199F07C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1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1E917-178E-74C2-1954-41506F39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A3C813-89F2-2C41-22A5-A6662886C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182D5-A1AD-D91F-890B-60145E362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F53FA-E5FD-D670-FB13-822E430D3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8CBE3-CACD-148D-B7C1-ED4F10CDD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5059F-1421-730F-87C8-C2D5251C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95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0C10-206F-8CDA-7793-F31B579E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1D98A-A0D6-464F-D7BA-33B5B1BB0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5C04B-23AE-992E-7F13-FD8F4375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8C1B6-9D15-6ECD-2DF4-822A329E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D9DA9-A90F-5FCB-C028-A31CB155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2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8ACF7-162E-DF5C-3E15-34D873A94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03A9F-5555-BC27-8DA8-C29EF38B8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D497B-054F-DD10-D9FA-02E825F6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62C9E-84D3-22E7-AA63-2DB1C219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73284-5A73-F3E6-2A35-7DEB1ECE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7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684A74-08A5-6FE2-97DB-C4CD5B0A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75528-BBE0-B6BA-5501-EEEEF99DA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EC345-D8D7-7C2C-996B-3A2AD1CE6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34681-0D27-2E44-AA00-872F1EEDEFE7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C7E4B-1852-C899-C82A-887E0995C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C90C7-7B75-1EA2-1DE4-23E3685E0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09F0A-6715-9245-920E-0808AC1D3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7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F538E0-AA51-6681-C8D3-197ED7ADC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0" y="1273627"/>
            <a:ext cx="11474735" cy="38861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FBC4080-7184-5DFE-DB8D-4BB89FE33104}"/>
              </a:ext>
            </a:extLst>
          </p:cNvPr>
          <p:cNvSpPr/>
          <p:nvPr/>
        </p:nvSpPr>
        <p:spPr>
          <a:xfrm>
            <a:off x="9486900" y="4980213"/>
            <a:ext cx="751114" cy="2394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7E7BA-E93D-8BDD-4459-33A5AEDB274E}"/>
              </a:ext>
            </a:extLst>
          </p:cNvPr>
          <p:cNvSpPr txBox="1"/>
          <p:nvPr/>
        </p:nvSpPr>
        <p:spPr>
          <a:xfrm>
            <a:off x="6775373" y="4900602"/>
            <a:ext cx="47999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i="0" dirty="0">
                <a:solidFill>
                  <a:srgbClr val="FF313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STEP 2</a:t>
            </a:r>
            <a:endParaRPr lang="en-US" sz="1400" dirty="0">
              <a:solidFill>
                <a:srgbClr val="FF313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n-US" sz="1400" i="0" dirty="0">
                <a:solidFill>
                  <a:srgbClr val="FF313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Choose the phase from the options below. </a:t>
            </a:r>
          </a:p>
          <a:p>
            <a:pPr algn="r"/>
            <a:r>
              <a:rPr lang="en-US" sz="1400" i="0" dirty="0">
                <a:solidFill>
                  <a:srgbClr val="FF313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Drag one of the</a:t>
            </a:r>
            <a:r>
              <a:rPr lang="en-US" sz="1400" dirty="0">
                <a:solidFill>
                  <a:srgbClr val="FF31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images to the location above and enlarge it to cover the circle above.</a:t>
            </a:r>
            <a:endParaRPr lang="en-US" sz="1400" dirty="0">
              <a:solidFill>
                <a:srgbClr val="FF313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B99B0-A40F-A953-7432-A3EC8C1304E3}"/>
              </a:ext>
            </a:extLst>
          </p:cNvPr>
          <p:cNvSpPr txBox="1"/>
          <p:nvPr/>
        </p:nvSpPr>
        <p:spPr>
          <a:xfrm>
            <a:off x="348342" y="104076"/>
            <a:ext cx="33201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0" dirty="0">
                <a:solidFill>
                  <a:srgbClr val="FF313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STEP 1</a:t>
            </a:r>
            <a:endParaRPr lang="en-US" sz="1400" dirty="0">
              <a:solidFill>
                <a:srgbClr val="FF313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i="0" dirty="0">
                <a:solidFill>
                  <a:srgbClr val="FF313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 these lines as bisectors for the Moon </a:t>
            </a:r>
            <a:endParaRPr lang="en-US" sz="1400" dirty="0">
              <a:solidFill>
                <a:srgbClr val="FF313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i="0" dirty="0">
                <a:solidFill>
                  <a:srgbClr val="FF313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Earth, just as in the simulation. </a:t>
            </a:r>
            <a:endParaRPr lang="en-US" sz="1400" dirty="0">
              <a:solidFill>
                <a:srgbClr val="FF313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i="0" dirty="0">
                <a:solidFill>
                  <a:srgbClr val="FF313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Drag and rotate them to their correct </a:t>
            </a:r>
            <a:endParaRPr lang="en-US" sz="1400" dirty="0">
              <a:solidFill>
                <a:srgbClr val="FF313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i="0" dirty="0">
                <a:solidFill>
                  <a:srgbClr val="FF313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positions in the drawing below.</a:t>
            </a:r>
            <a:endParaRPr lang="en-US" sz="1400" dirty="0">
              <a:solidFill>
                <a:srgbClr val="FF313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5A1100-76C9-2CB0-D6FD-EE735C110750}"/>
              </a:ext>
            </a:extLst>
          </p:cNvPr>
          <p:cNvCxnSpPr/>
          <p:nvPr/>
        </p:nvCxnSpPr>
        <p:spPr>
          <a:xfrm>
            <a:off x="3962400" y="500741"/>
            <a:ext cx="1817914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FCE947-447A-A661-516C-CEFC45B96F41}"/>
              </a:ext>
            </a:extLst>
          </p:cNvPr>
          <p:cNvCxnSpPr/>
          <p:nvPr/>
        </p:nvCxnSpPr>
        <p:spPr>
          <a:xfrm>
            <a:off x="4114800" y="653141"/>
            <a:ext cx="1817914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0F00F0-E285-7327-EA90-7F4F0635AB11}"/>
              </a:ext>
            </a:extLst>
          </p:cNvPr>
          <p:cNvCxnSpPr/>
          <p:nvPr/>
        </p:nvCxnSpPr>
        <p:spPr>
          <a:xfrm>
            <a:off x="3570514" y="1110341"/>
            <a:ext cx="1817914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1FCF65-2DCB-88B2-1FDF-D4E621CD0AB1}"/>
              </a:ext>
            </a:extLst>
          </p:cNvPr>
          <p:cNvCxnSpPr/>
          <p:nvPr/>
        </p:nvCxnSpPr>
        <p:spPr>
          <a:xfrm>
            <a:off x="3374571" y="957941"/>
            <a:ext cx="1817914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742D18-6720-E722-5C24-4601E83FFBA1}"/>
              </a:ext>
            </a:extLst>
          </p:cNvPr>
          <p:cNvSpPr txBox="1"/>
          <p:nvPr/>
        </p:nvSpPr>
        <p:spPr>
          <a:xfrm>
            <a:off x="8394768" y="1110341"/>
            <a:ext cx="332014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1400" dirty="0"/>
              <a:t>This will be the appearance of the Moon (phase) as seen from Earth, corresponding to the drawing on the left.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C6903E-4A1C-64E1-FE17-7235F6CB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933" b="51061"/>
          <a:stretch>
            <a:fillRect/>
          </a:stretch>
        </p:blipFill>
        <p:spPr>
          <a:xfrm>
            <a:off x="738539" y="6079074"/>
            <a:ext cx="793220" cy="7978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B93D5-8E45-4E87-75F0-12BFB4EAEB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19" r="50914" b="51061"/>
          <a:stretch>
            <a:fillRect/>
          </a:stretch>
        </p:blipFill>
        <p:spPr>
          <a:xfrm>
            <a:off x="2038371" y="6080745"/>
            <a:ext cx="793220" cy="7978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B305CB-E74F-807E-12D9-E2D86CBDBC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r="25933" b="51061"/>
          <a:stretch>
            <a:fillRect/>
          </a:stretch>
        </p:blipFill>
        <p:spPr>
          <a:xfrm>
            <a:off x="3360084" y="6112339"/>
            <a:ext cx="793220" cy="7978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14BA5C-3682-F7B1-4F87-A2211FFAB9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97" b="50865"/>
          <a:stretch>
            <a:fillRect/>
          </a:stretch>
        </p:blipFill>
        <p:spPr>
          <a:xfrm>
            <a:off x="4665893" y="6064694"/>
            <a:ext cx="814183" cy="8010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86104B-74DF-DA49-D6CF-8A6FC4BBDA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672" t="50580" r="75460" b="-12722"/>
          <a:stretch>
            <a:fillRect/>
          </a:stretch>
        </p:blipFill>
        <p:spPr>
          <a:xfrm>
            <a:off x="5932714" y="6037243"/>
            <a:ext cx="863902" cy="10131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EAD064-3A63-4425-7FC6-F644E8EA0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22" t="50099" r="50720" b="-4532"/>
          <a:stretch>
            <a:fillRect/>
          </a:stretch>
        </p:blipFill>
        <p:spPr>
          <a:xfrm>
            <a:off x="7338769" y="6035952"/>
            <a:ext cx="832489" cy="8874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1E94CB1-436C-18CE-60B0-73E61DC64A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56" t="49135" r="25341" b="-1642"/>
          <a:stretch>
            <a:fillRect/>
          </a:stretch>
        </p:blipFill>
        <p:spPr>
          <a:xfrm>
            <a:off x="8644080" y="6027059"/>
            <a:ext cx="814184" cy="8560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A3F892C-52AE-0275-5F50-26A4AB3A78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692" t="49136" r="3" b="284"/>
          <a:stretch>
            <a:fillRect/>
          </a:stretch>
        </p:blipFill>
        <p:spPr>
          <a:xfrm>
            <a:off x="9931086" y="6037243"/>
            <a:ext cx="801074" cy="82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20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84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Glenda Denicolo</dc:creator>
  <cp:lastModifiedBy>Glenda Denicolo</cp:lastModifiedBy>
  <cp:revision>8</cp:revision>
  <dcterms:created xsi:type="dcterms:W3CDTF">2024-09-11T12:48:02Z</dcterms:created>
  <dcterms:modified xsi:type="dcterms:W3CDTF">2025-06-12T17:51:05Z</dcterms:modified>
</cp:coreProperties>
</file>